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C4C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C4C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280160"/>
            <a:ext cx="4206240" cy="4206240"/>
          </a:xfrm>
          <a:prstGeom prst="ellipse">
            <a:avLst/>
          </a:prstGeom>
          <a:solidFill>
            <a:srgbClr val="028090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2194560"/>
            <a:ext cx="3108960" cy="3108960"/>
          </a:xfrm>
          <a:prstGeom prst="ellipse">
            <a:avLst/>
          </a:prstGeom>
          <a:solidFill>
            <a:srgbClr val="02C39A">
              <a:alpha val="2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4480560"/>
            <a:ext cx="2011680" cy="2011680"/>
          </a:xfrm>
          <a:prstGeom prst="ellipse">
            <a:avLst/>
          </a:prstGeom>
          <a:solidFill>
            <a:srgbClr val="CFE9E7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960120"/>
            <a:ext cx="1572768" cy="47548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941832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0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66928" y="1737360"/>
            <a:ext cx="8778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Web Works</a:t>
            </a:r>
            <a:endParaRPr lang="en-US" sz="4300" dirty="0"/>
          </a:p>
        </p:txBody>
      </p:sp>
      <p:sp>
        <p:nvSpPr>
          <p:cNvPr id="8" name="Text 6"/>
          <p:cNvSpPr/>
          <p:nvPr/>
        </p:nvSpPr>
        <p:spPr>
          <a:xfrm>
            <a:off x="566928" y="37947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HTTP, requests &amp; responses, methods, status codes, JSON and REST — the language every API speaks.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6928" y="580644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Engineering · Batch 5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CC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FastAPI &amp; Web APIs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Goals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4297680" cy="4480560"/>
          </a:xfrm>
          <a:prstGeom prst="roundRect">
            <a:avLst>
              <a:gd name="adj" fmla="val 1915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8928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6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41248" y="2313432"/>
            <a:ext cx="374904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done — you can model anything with classes.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programs that talk to each other over the internet.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FastAPI today — first the rules of the conversation.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fire REAL requests from Python.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49240" y="1691640"/>
            <a:ext cx="62755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 YOU CAN…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49240" y="2103120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349240" y="2084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52744" y="2048256"/>
            <a:ext cx="5635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client → server → response loop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349240" y="2907792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5349240" y="2889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52744" y="2852928"/>
            <a:ext cx="5635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4 parts of a request and 3 parts of a response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349240" y="3712464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5349240" y="3694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52744" y="3657600"/>
            <a:ext cx="5635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HTTP methods to CRUD actions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349240" y="4517136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5349240" y="4498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52744" y="4462272"/>
            <a:ext cx="5635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status codes by family (2xx / 4xx / 5xx)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349240" y="5321808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5349240" y="5303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52744" y="5266944"/>
            <a:ext cx="5635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JSON ↔ Python and define REST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11: How the Web Works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0160" y="1051560"/>
            <a:ext cx="96313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MENTAL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05840" y="1554480"/>
            <a:ext cx="101800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27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web is a request → response conversation.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828800" y="3337560"/>
            <a:ext cx="8534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analogy: you order, the waiter carries it, the kitchen cooks, the food comes back.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911200" y="4160520"/>
            <a:ext cx="3200400" cy="1783080"/>
          </a:xfrm>
          <a:prstGeom prst="roundRect">
            <a:avLst>
              <a:gd name="adj" fmla="val 4615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39800" y="4343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46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139800" y="4764024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who asks: a browser, an app, a Python script — or an AI agent.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95648" y="4160520"/>
            <a:ext cx="3200400" cy="1783080"/>
          </a:xfrm>
          <a:prstGeom prst="roundRect">
            <a:avLst>
              <a:gd name="adj" fmla="val 4615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24248" y="4343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46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724248" y="4764024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waiter: an agreed set of rules that carries orders and brings replies. Stateless!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80096" y="4160520"/>
            <a:ext cx="3200400" cy="1783080"/>
          </a:xfrm>
          <a:prstGeom prst="roundRect">
            <a:avLst>
              <a:gd name="adj" fmla="val 4615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08696" y="4343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46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308696" y="4764024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kitchen: a program on an always-on computer that does the work and responds.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11: How the Web Works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request has 4 parts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691640"/>
            <a:ext cx="53949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verb — what action you want (GET, POST, PUT, DELETE).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which resource, and where: host + path + optional ?query=string.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metadata: content type, auth tokens, who is asking.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data you send (POST/PUT) — usually JSON. GET has no body.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373368" y="1691640"/>
            <a:ext cx="5251399" cy="2843784"/>
          </a:xfrm>
          <a:prstGeom prst="roundRect">
            <a:avLst>
              <a:gd name="adj" fmla="val 2894"/>
            </a:avLst>
          </a:prstGeom>
          <a:solidFill>
            <a:srgbClr val="0B2E35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29400" y="1837944"/>
            <a:ext cx="4739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RAW HTTP REQUEST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629400" y="2148840"/>
            <a:ext cx="4739335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/users HTTP/1.1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Host: api.example.com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Content-Type: application/json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Authorization: Bearer abc123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"name": "Ayesha",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"age": 25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11: How the Web Works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response has 3 parts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691640"/>
            <a:ext cx="53949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code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how it went — a 3-digit number (200, 404, 500…).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metadata about the reply (format, length, caching).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actual data — for APIs, almost always JSON.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order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check the status first, then parse the body.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373368" y="1691640"/>
            <a:ext cx="5251399" cy="2627376"/>
          </a:xfrm>
          <a:prstGeom prst="roundRect">
            <a:avLst>
              <a:gd name="adj" fmla="val 3132"/>
            </a:avLst>
          </a:prstGeom>
          <a:solidFill>
            <a:srgbClr val="0B2E35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29400" y="1837944"/>
            <a:ext cx="4739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RAW HTTP RESPONSE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629400" y="2148840"/>
            <a:ext cx="4739335" cy="2005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HTTP/1.1 200 OK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Content-Type: application/json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"id": 5,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"name": "Ayesha",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"is_active": true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11: How the Web Works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VERBS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 methods = CRUD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91640"/>
          <a:ext cx="11057839" cy="3931920"/>
        </p:xfrm>
        <a:graphic>
          <a:graphicData uri="http://schemas.openxmlformats.org/drawingml/2006/table">
            <a:tbl>
              <a:tblPr/>
              <a:tblGrid>
                <a:gridCol w="1554480"/>
                <a:gridCol w="1371600"/>
                <a:gridCol w="3931920"/>
                <a:gridCol w="1463040"/>
                <a:gridCol w="2743200"/>
              </a:tblGrid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 body?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Fetch a resource — must never change data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user #5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a new resource (not idempotent!)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a user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6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 a resource entirely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overwrite user #5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only some fields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 the email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6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a resource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user #5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5870448"/>
            <a:ext cx="11057839" cy="512064"/>
          </a:xfrm>
          <a:prstGeom prst="roundRect">
            <a:avLst>
              <a:gd name="adj" fmla="val 16071"/>
            </a:avLst>
          </a:prstGeom>
          <a:solidFill>
            <a:srgbClr val="E2F3EE"/>
          </a:solidFill>
          <a:ln/>
        </p:spPr>
      </p:sp>
      <p:sp>
        <p:nvSpPr>
          <p:cNvPr id="6" name="Text 3"/>
          <p:cNvSpPr/>
          <p:nvPr/>
        </p:nvSpPr>
        <p:spPr>
          <a:xfrm>
            <a:off x="795528" y="5870448"/>
            <a:ext cx="106006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4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</a:t>
            </a:r>
            <a:pPr indent="0" marL="0">
              <a:buNone/>
            </a:pPr>
            <a:r>
              <a:rPr lang="en-US" sz="1250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URL + different method = different action. That is the heart of REST.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11: How the Web Works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codes — read the first digit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368900" cy="1783080"/>
          </a:xfrm>
          <a:prstGeom prst="roundRect">
            <a:avLst>
              <a:gd name="adj" fmla="val 4615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89280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874520"/>
            <a:ext cx="445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2xx — Success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04672" y="2404872"/>
            <a:ext cx="48934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worked. 200 OK, 201 Created (after POST), 204 No Content (after DELETE).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55868" y="1691640"/>
            <a:ext cx="5368900" cy="1783080"/>
          </a:xfrm>
          <a:prstGeom prst="roundRect">
            <a:avLst>
              <a:gd name="adj" fmla="val 4615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57036" y="189280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457036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69100" y="1874520"/>
            <a:ext cx="445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3xx — Redirect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93612" y="2404872"/>
            <a:ext cx="48934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somewhere else. The resource moved; the client follows automatically.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3794760"/>
            <a:ext cx="5368900" cy="1783080"/>
          </a:xfrm>
          <a:prstGeom prst="roundRect">
            <a:avLst>
              <a:gd name="adj" fmla="val 4615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68096" y="399592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80160" y="3977640"/>
            <a:ext cx="445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4xx — Client error (YOUR fault)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04672" y="4507992"/>
            <a:ext cx="48934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bad request · 401 not logged in · 403 forbidden · 404 not found · 422 validation failed (FastAPI loves this one!).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55868" y="3794760"/>
            <a:ext cx="5368900" cy="1783080"/>
          </a:xfrm>
          <a:prstGeom prst="roundRect">
            <a:avLst>
              <a:gd name="adj" fmla="val 4615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57036" y="399592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457036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69100" y="3977640"/>
            <a:ext cx="445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5xx — Server error (THEIR fault)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93612" y="4507992"/>
            <a:ext cx="48934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internal error — the server crashed handling your request.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5870448"/>
            <a:ext cx="11057839" cy="512064"/>
          </a:xfrm>
          <a:prstGeom prst="roundRect">
            <a:avLst>
              <a:gd name="adj" fmla="val 16071"/>
            </a:avLst>
          </a:prstGeom>
          <a:solidFill>
            <a:srgbClr val="E2F3EE"/>
          </a:solidFill>
          <a:ln/>
        </p:spPr>
      </p:sp>
      <p:sp>
        <p:nvSpPr>
          <p:cNvPr id="25" name="Text 23"/>
          <p:cNvSpPr/>
          <p:nvPr/>
        </p:nvSpPr>
        <p:spPr>
          <a:xfrm>
            <a:off x="795528" y="5870448"/>
            <a:ext cx="106006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4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</a:t>
            </a:r>
            <a:pPr indent="0" marL="0">
              <a:buNone/>
            </a:pPr>
            <a:r>
              <a:rPr lang="en-US" sz="1250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Memorize the families + 200, 201, 400, 401, 404, 422, 500. Look up the rest.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11: How the Web Works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FORMAT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 ↔ Python — the whole trick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91640"/>
          <a:ext cx="11057839" cy="3931920"/>
        </p:xfrm>
        <a:graphic>
          <a:graphicData uri="http://schemas.openxmlformats.org/drawingml/2006/table">
            <a:tbl>
              <a:tblPr/>
              <a:tblGrid>
                <a:gridCol w="2926080"/>
                <a:gridCol w="2926080"/>
                <a:gridCol w="5212080"/>
              </a:tblGrid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 out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  { }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keys use DOUBLE quotes only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  [ ]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6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"text"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quotes are invalid JSON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 / float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6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/ false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/ False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lowercase in JSON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8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6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5870448"/>
            <a:ext cx="11057839" cy="512064"/>
          </a:xfrm>
          <a:prstGeom prst="roundRect">
            <a:avLst>
              <a:gd name="adj" fmla="val 16071"/>
            </a:avLst>
          </a:prstGeom>
          <a:solidFill>
            <a:srgbClr val="E2F3EE"/>
          </a:solidFill>
          <a:ln/>
        </p:spPr>
      </p:sp>
      <p:sp>
        <p:nvSpPr>
          <p:cNvPr id="6" name="Text 3"/>
          <p:cNvSpPr/>
          <p:nvPr/>
        </p:nvSpPr>
        <p:spPr>
          <a:xfrm>
            <a:off x="795528" y="5870448"/>
            <a:ext cx="106006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4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</a:t>
            </a:r>
            <a:pPr indent="0" marL="0">
              <a:buNone/>
            </a:pPr>
            <a:r>
              <a:rPr lang="en-US" sz="1250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json.dumps(obj) = Python → JSON string (dump-String) · json.loads(text) = JSON → Python (load-String) · requests: response.json()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11: How the Web Works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— a style, not a technology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2148840"/>
            <a:ext cx="2545004" cy="3291840"/>
          </a:xfrm>
          <a:prstGeom prst="roundRect">
            <a:avLst>
              <a:gd name="adj" fmla="val 3234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01686" y="2404872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601686" y="23865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94944" y="3017520"/>
            <a:ext cx="22889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Resources as nouns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3611880"/>
            <a:ext cx="22523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name things: /users, /users/5, /posts/12/comments. Never verbs like /getUser.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057068" y="3520440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404540" y="2148840"/>
            <a:ext cx="2545004" cy="3291840"/>
          </a:xfrm>
          <a:prstGeom prst="roundRect">
            <a:avLst>
              <a:gd name="adj" fmla="val 3234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39298" y="2404872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4439298" y="23865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32556" y="3017520"/>
            <a:ext cx="22889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Methods as verbs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50844" y="3611880"/>
            <a:ext cx="22523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/users/5 reads it, DELETE /users/5 removes it. Same URL, different verb.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894680" y="3520440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42152" y="2148840"/>
            <a:ext cx="2545004" cy="3291840"/>
          </a:xfrm>
          <a:prstGeom prst="roundRect">
            <a:avLst>
              <a:gd name="adj" fmla="val 3234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276909" y="2404872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7276909" y="23865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70168" y="3017520"/>
            <a:ext cx="22889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tells the outcome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88456" y="3611880"/>
            <a:ext cx="22523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/ 201 / 404 / 422 — the client knows what happened without guessing.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732291" y="3520440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079763" y="2148840"/>
            <a:ext cx="2545004" cy="3291840"/>
          </a:xfrm>
          <a:prstGeom prst="roundRect">
            <a:avLst>
              <a:gd name="adj" fmla="val 3234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114521" y="2404872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10114521" y="23865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207779" y="3017520"/>
            <a:ext cx="22889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 carries the data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226067" y="3611880"/>
            <a:ext cx="22523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language-neutral. And every request is STATELESS.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66928" y="5870448"/>
            <a:ext cx="11057839" cy="512064"/>
          </a:xfrm>
          <a:prstGeom prst="roundRect">
            <a:avLst>
              <a:gd name="adj" fmla="val 16071"/>
            </a:avLst>
          </a:prstGeom>
          <a:solidFill>
            <a:srgbClr val="E2F3EE"/>
          </a:solidFill>
          <a:ln/>
        </p:spPr>
      </p:sp>
      <p:sp>
        <p:nvSpPr>
          <p:cNvPr id="28" name="Text 26"/>
          <p:cNvSpPr/>
          <p:nvPr/>
        </p:nvSpPr>
        <p:spPr>
          <a:xfrm>
            <a:off x="795528" y="5870448"/>
            <a:ext cx="106006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4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</a:t>
            </a:r>
            <a:pPr indent="0" marL="0">
              <a:buNone/>
            </a:pPr>
            <a:r>
              <a:rPr lang="en-US" sz="1250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API that follows these conventions is 'RESTful'. FastAPI makes building one natural.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11: How the Web Works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PRE-EMPT THE BUGS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beginner confusions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368900" cy="2057400"/>
          </a:xfrm>
          <a:prstGeom prst="roundRect">
            <a:avLst>
              <a:gd name="adj" fmla="val 4000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892808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874520"/>
            <a:ext cx="445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 vs query string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04672" y="2404872"/>
            <a:ext cx="48934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/users/5 identifies WHICH resource; ?limit=10&amp;sort=asc says HOW you want it.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55868" y="1691640"/>
            <a:ext cx="5368900" cy="2057400"/>
          </a:xfrm>
          <a:prstGeom prst="roundRect">
            <a:avLst>
              <a:gd name="adj" fmla="val 4000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57036" y="1892808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6457036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69100" y="1874520"/>
            <a:ext cx="445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 ≠ 'data exists'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93612" y="2404872"/>
            <a:ext cx="48934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empty search result is still 200. A missing specific resource is 404. Different things.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4069080"/>
            <a:ext cx="5368900" cy="2057400"/>
          </a:xfrm>
          <a:prstGeom prst="roundRect">
            <a:avLst>
              <a:gd name="adj" fmla="val 4000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68096" y="4270248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80160" y="4251960"/>
            <a:ext cx="445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server remembers you?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04672" y="4782312"/>
            <a:ext cx="48934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HTTP is stateless. Identity must be sent on EVERY request (tokens, Day 20).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55868" y="4069080"/>
            <a:ext cx="5368900" cy="2057400"/>
          </a:xfrm>
          <a:prstGeom prst="roundRect">
            <a:avLst>
              <a:gd name="adj" fmla="val 4000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57036" y="4270248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6457036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69100" y="4251960"/>
            <a:ext cx="445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dumps vs loads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93612" y="4782312"/>
            <a:ext cx="48934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dumpS = TO a String (Python→JSON). loadS = FROM a String (JSON→Python).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11: How the Web Works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4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280160"/>
            <a:ext cx="4206240" cy="4206240"/>
          </a:xfrm>
          <a:prstGeom prst="ellipse">
            <a:avLst/>
          </a:prstGeom>
          <a:solidFill>
            <a:srgbClr val="028090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2194560"/>
            <a:ext cx="3108960" cy="3108960"/>
          </a:xfrm>
          <a:prstGeom prst="ellipse">
            <a:avLst/>
          </a:prstGeom>
          <a:solidFill>
            <a:srgbClr val="02C39A">
              <a:alpha val="2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4480560"/>
            <a:ext cx="2011680" cy="2011680"/>
          </a:xfrm>
          <a:prstGeom prst="ellipse">
            <a:avLst/>
          </a:prstGeom>
          <a:solidFill>
            <a:srgbClr val="CFE9E7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9144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now speak HTTP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66928" y="1874520"/>
            <a:ext cx="6035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request → response, carried by stateless HTTP.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= method + URL + headers + body; response = status + headers + body.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map to CRUD; status families tell you whose fault it was.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is the data language; REST is the design style.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040880" y="1874520"/>
            <a:ext cx="4583887" cy="3246120"/>
          </a:xfrm>
          <a:prstGeom prst="roundRect">
            <a:avLst>
              <a:gd name="adj" fmla="val 2817"/>
            </a:avLst>
          </a:prstGeom>
          <a:solidFill>
            <a:srgbClr val="0A455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0" y="2103120"/>
            <a:ext cx="40352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0" y="2450592"/>
            <a:ext cx="4035247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todo from jsonplaceholder and print status + fields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check(url) that names the status family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a resource and read the id the server assigned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fetch a user's todos with ?userId= and count them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66928" y="562356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 →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 — Pydantic</a:t>
            </a:r>
            <a:pPr indent="0" marL="0">
              <a:buNone/>
            </a:pPr>
            <a:r>
              <a:rPr lang="en-US" sz="15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validate untrusted data with models (FastAPI's engine)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C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11: How the Web Works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C4C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11 — How the Web Works</dc:title>
  <dc:subject>PptxGenJS Presentation</dc:subject>
  <dc:creator>Agentic AI — Batch 5</dc:creator>
  <cp:lastModifiedBy>Agentic AI — Batch 5</cp:lastModifiedBy>
  <cp:revision>1</cp:revision>
  <dcterms:created xsi:type="dcterms:W3CDTF">2026-07-19T00:34:30Z</dcterms:created>
  <dcterms:modified xsi:type="dcterms:W3CDTF">2026-07-19T00:34:30Z</dcterms:modified>
</cp:coreProperties>
</file>